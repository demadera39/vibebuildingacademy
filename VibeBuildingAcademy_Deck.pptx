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312E81">
              <a:alpha val="70000"/>
            </a:srgbClr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011680"/>
            <a:ext cx="2743200" cy="2743200"/>
          </a:xfrm>
          <a:prstGeom prst="ellipse">
            <a:avLst/>
          </a:prstGeom>
          <a:solidFill>
            <a:srgbClr val="4F46E5">
              <a:alpha val="3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474720"/>
            <a:ext cx="1280160" cy="1280160"/>
          </a:xfrm>
          <a:prstGeom prst="ellipse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2194560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68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2984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</a:t>
            </a:r>
            <a:endParaRPr lang="en-US" sz="70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</a:t>
            </a:r>
            <a:endParaRPr lang="en-US" sz="7000" dirty="0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What You Never Could Before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94360" y="37673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learning programme for the AI 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4617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vibebuilding.academy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49194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INFLECTION POINT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February 2025: A New Era Begins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29260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8016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"There's a new kind of coding I call 'vibe coding' — where you fully give in to the vibes, embrace exponentials, and forget that the code even exists."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090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Andrej Karpathy, February 2025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3649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of OpenAI · former AI Director at Tesla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barely even touch the keyboard."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happened next: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0" y="1508760"/>
            <a:ext cx="365760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15819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Collins Dictionary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57800" y="18196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of the Year 2025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2313432"/>
            <a:ext cx="365760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23865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Combinator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57800" y="26243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startups: 95% AI-generated code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3118104"/>
            <a:ext cx="365760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31912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Merriam-Webster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57800" y="34290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as "slang &amp; trending"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20640" y="3922776"/>
            <a:ext cx="365760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39959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Bolt.new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57800" y="42336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$40M ARR in just 5 months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49194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Vibe Coding to Vibe Building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749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3749040" cy="91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 CODING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coding accelerator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Developers write code 10× faster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Natural language drives generation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Still primarily for technical users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Accelerates existing workflows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70248" y="24688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937760" y="1280160"/>
            <a:ext cx="3749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280160"/>
            <a:ext cx="37490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 BUILDING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1874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creation superpower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28600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Non-technical people build products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Ideas become apps, tools, services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code required — open to everyone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Creates businesses that never existed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49194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CHANGE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Workforce Is Being Reshaped — Right Now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92024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3619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displaced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529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Economic Forum, 2025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371600"/>
            <a:ext cx="19202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53619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170M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65176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8529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+78M — WEF 2025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371600"/>
            <a:ext cx="192024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53619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8529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 — McKinsey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37160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371600"/>
            <a:ext cx="19202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53619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85800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28529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AI — Goldman Sachs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05072"/>
            <a:ext cx="822960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078224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 Sachs (2025): Generative AI will raise labor productivity in developed markets by 15% when fully adopted — creating an urgent, immediate need for workforce upskilling programs.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49194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POINTS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 Builders Are Already Creating at Scale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840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1508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Maor Shlomo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7099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Founder → Wix acquisition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9842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startup Base44 in 6 months, hit $1M ARR in 3 weeks, grew to 250K users — sold to Wix for $80M cash.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86868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4173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$80M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3840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25880"/>
            <a:ext cx="73152" cy="1508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Jack Dorsey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608" y="17099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CEO, Block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64608" y="19842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Bitchat peer-to-peer messaging app almost entirely with AI. Working prototype delivered in a single day.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0" y="1417320"/>
            <a:ext cx="86868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14173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day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0" y="19202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prototype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3840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017520"/>
            <a:ext cx="73152" cy="1508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Pieter Levels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" y="3401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developer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36758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multiplayer game earning $1M annually — built it in just 17 days using AI-driven code tools.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3108960"/>
            <a:ext cx="86868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1089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$1M/yr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91840" y="36118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017520"/>
            <a:ext cx="3840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017520"/>
            <a:ext cx="73152" cy="1508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Kelsey (HR team)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64608" y="3401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 — non-technical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64608" y="36758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enterprise org chart software in 3 days with a custom solution — zero engineering resources consumed.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98080" y="3108960"/>
            <a:ext cx="86868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31089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days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98080" y="36118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9194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$400 Billion Market Demanding Change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7548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64008" cy="7132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3502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$400B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58368" y="171907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corporate training market (2025)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47548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4884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18541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$874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8368" y="256946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learning budget per employee per year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99232"/>
            <a:ext cx="47548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99232"/>
            <a:ext cx="64008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0358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58368" y="341985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plan to increase upskilling investment through 2030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49624"/>
            <a:ext cx="47548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49624"/>
            <a:ext cx="6400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886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58368" y="427024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companies now using AI for training — up from 25% in 2024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1298448"/>
            <a:ext cx="3200400" cy="33832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4447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B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Josh Bersin, Feb 2026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18745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is poised to completely transform the $400 billion corporate training market."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0" y="2971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approaches combining AI generation with human guidance will define the next era of corporate learning.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38404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joshbersin.com,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9194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Existing Training Misses the Vibe Building Revolution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5603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56032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481328"/>
            <a:ext cx="731520" cy="7315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481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Generic AI Literacy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85292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courses teach "what is AI" or "how to prompt ChatGPT." They do not teach people to BUILD — to go from idea to working product in a professional context.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5603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25880"/>
            <a:ext cx="256032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1481328"/>
            <a:ext cx="731520" cy="7315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1481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3756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Professional Context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85292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Bootcamps target developers or general audiences. Nothing is designed around what corporate or non-profit employees actually need to create and use.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1325880"/>
            <a:ext cx="25603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1325880"/>
            <a:ext cx="256032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1481328"/>
            <a:ext cx="731520" cy="7315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481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8076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Output, No Community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80760" y="285292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e-learning has no accountability, no peer group, no real deliverable. Learners disengage within days. Learning budgets are wasted.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Employees leave training unchanged. Organisations lose learning budget with no visible ROI.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9194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731520"/>
            <a:ext cx="4114800" cy="4114800"/>
          </a:xfrm>
          <a:prstGeom prst="ellipse">
            <a:avLst/>
          </a:prstGeom>
          <a:solidFill>
            <a:srgbClr val="312E81">
              <a:alpha val="45000"/>
            </a:srgbClr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VibeBuildingAcademy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professional learning programme built specifically for vibe building — helping corporate and non-profit employees transform from consumers of technology into creators of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2651760" cy="1600200"/>
          </a:xfrm>
          <a:prstGeom prst="rect">
            <a:avLst/>
          </a:prstGeom>
          <a:solidFill>
            <a:srgbClr val="2D2B5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0040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337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on what matters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7673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build something immediately useful in their own job or business context — not a generic exercise.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3200400"/>
            <a:ext cx="2651760" cy="1600200"/>
          </a:xfrm>
          <a:prstGeom prst="rect">
            <a:avLst/>
          </a:prstGeom>
          <a:solidFill>
            <a:srgbClr val="2D2B5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320040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3337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Truly blended learning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7673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kickoffs, peer circles, async video, and assignments. Not just another video course.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200400"/>
            <a:ext cx="2651760" cy="1600200"/>
          </a:xfrm>
          <a:prstGeom prst="rect">
            <a:avLst/>
          </a:prstGeom>
          <a:solidFill>
            <a:srgbClr val="2D2B5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20040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337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output guaranteed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37673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participant leaves with a working tool, prototype, or business concept — visible ROI for L&amp;D budgets.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49194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AUDIENCE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the Ambitious Professional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606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2606040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727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Idea-Rich Employee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482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· Non-profit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great ideas for improving workflows, products, or services — but was always told "wait for IT." Now they can build it themselves, on their own schedule.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657600"/>
            <a:ext cx="2331720" cy="219456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6576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Learning budget available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931920"/>
            <a:ext cx="2331720" cy="219456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9319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Employer-sponsored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4206240"/>
            <a:ext cx="2331720" cy="219456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20624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Uses internal tools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298448"/>
            <a:ext cx="2606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298448"/>
            <a:ext cx="260604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5727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Aspiring Intrapreneur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20482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to senior professional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3774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launch a new initiative, internal product, or side project but lacks technical skills. Ready to leverage AI to close the gap — permanently.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3657600"/>
            <a:ext cx="2331720" cy="219456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6576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Budget holder or influencer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3931920"/>
            <a:ext cx="2331720" cy="219456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9319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Innovation-minded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4206240"/>
            <a:ext cx="2331720" cy="219456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420624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Results-oriented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1298448"/>
            <a:ext cx="2606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1298448"/>
            <a:ext cx="260604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15727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Career Adapter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72200" y="20482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industry · Any role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23774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AI disruption coming and wants to stay ahead. Understands that building capability — not just using AI — is the real competitive edge in the new economy.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3657600"/>
            <a:ext cx="2331720" cy="219456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6576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L&amp;D budget user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3931920"/>
            <a:ext cx="2331720" cy="219456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39319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Self-motivated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4206240"/>
            <a:ext cx="2331720" cy="219456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420624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Future-focused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via corporate L&amp;D budgets and employer learning allowances — zero personal cost to participants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0" y="49194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Blended Experience That Actually Works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1920240" cy="50292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44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Kickoff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50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 · Zoom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formation, goal-setting, and expert framing. Meet your peers and define exactly what YOU will build over the programme.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298448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298448"/>
            <a:ext cx="1920240" cy="50292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344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51760" y="1920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Peer Circle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2350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(Circle)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26974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groups of 4–6 peers. Weekly check-ins, feedback, and mutual support from start to final project.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298448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298448"/>
            <a:ext cx="1920240" cy="50292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344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54880" y="1920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Learning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2350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· Podcast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6974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focused modules on tools, techniques, and mindset shifts. Learn at your own pace, in your own time.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1298448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1298448"/>
            <a:ext cx="1920240" cy="50292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1344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58000" y="1920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&amp; Ship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2350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26974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projects tied directly to your work context. You leave with a real, working output — not just a completion certificate.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49194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OUTCOMES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Participants Actually Build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50292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533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Tools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645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apps · Onboarding assistants · Reporting automations · Dashboard builders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39696"/>
            <a:ext cx="50292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39696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1945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Customer-Facing Products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4871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portals · Patient journey apps · Quote generators · Intake forms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50292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80944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0358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Automations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33284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processors · Email assistants · Data pipelines · Scheduling tools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22192"/>
            <a:ext cx="50292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22192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87705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Business Ventures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41696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micro-apps · Niche platforms · Marketplace tools — fully AI-built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1298448"/>
            <a:ext cx="2926080" cy="33832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444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Principle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1883664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participant works on something they could immediately use in their work — or start a business with."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0" y="31089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generic exercises.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artificial case studies.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real problem.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real solution.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8188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by: Lovable  ·  Bolt.new  ·  Replit  ·  Claude  ·  n8n  ·  and more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49194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TIMING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Window of Opportunity Is Open — Right Now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8046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53312"/>
            <a:ext cx="64008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4447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Tools Are Finally Ready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18105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Lovable, Bolt.new, Replit and others have crossed the threshold. Non-technical users can now build production-grade tools without writing a single line of code.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13990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2024–2025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217920" y="1956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matured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8046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42032"/>
            <a:ext cx="64008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6334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Awareness Has Gone Mainstream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" y="29992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"Vibe coding" is a Collins Dictionary Word of the Year. CEOs, HR leaders, and L&amp;D managers are asking: how do we bring this capability into our organisation?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58775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4.5M+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17920" y="31455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on Karpathy's post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30752"/>
            <a:ext cx="8046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30752"/>
            <a:ext cx="64008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8221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Education Category Is Empty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" y="41879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has yet built a professional-grade, employer-sponsored academy specifically for vibe building. The category is open. First movers define it.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77647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217920" y="4334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competitors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49194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PRODUCT-MARKET FIT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 Evidence Across Every Signal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Signals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201168" cy="2011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71907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organisations plan to increase upskilling investment through 2030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201168" cy="2011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26771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 adoption doubled: 25% → 37% of companies in one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07792"/>
            <a:ext cx="201168" cy="2011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8163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employee learning budget: $874/year — seeking high-ROI programmes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56432"/>
            <a:ext cx="201168" cy="2011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36499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Combinator: 25% of startups run 95% AI-generated codebases — skills gap is real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05072"/>
            <a:ext cx="201168" cy="2011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91363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Bolt.new hit $40M ARR in 5 months — users are hungry to build with 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234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VibeBuildingAcademy Wins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63440" y="1719072"/>
            <a:ext cx="402336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719072"/>
            <a:ext cx="64008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7373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Model: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19385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+ async + community = highest engagement and completion rates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267712"/>
            <a:ext cx="402336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267712"/>
            <a:ext cx="64008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2860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Employer-Funded: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8032" y="2487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through existing L&amp;D budgets — no personal cost barrier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816352"/>
            <a:ext cx="402336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816352"/>
            <a:ext cx="64008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8346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28032" y="30358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build something real — ROI is visible and measurable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364992"/>
            <a:ext cx="402336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364992"/>
            <a:ext cx="64008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3832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Competitors: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28032" y="3584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programme specifically targets vibe building for professionals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913632"/>
            <a:ext cx="402336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913632"/>
            <a:ext cx="64008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9319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Edge: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28032" y="41330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Category-defining position in an emerging, high-awareness space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0" y="49194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560320"/>
            <a:ext cx="4572000" cy="4572000"/>
          </a:xfrm>
          <a:prstGeom prst="ellipse">
            <a:avLst/>
          </a:prstGeom>
          <a:solidFill>
            <a:srgbClr val="312E81">
              <a:alpha val="55000"/>
            </a:srgbClr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D9488">
              <a:alpha val="3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US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8046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Bring VibeBuildingAcademy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Your Organisation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651760" cy="1828800"/>
          </a:xfrm>
          <a:prstGeom prst="rect">
            <a:avLst/>
          </a:prstGeom>
          <a:solidFill>
            <a:srgbClr val="2D2B5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265176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865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L&amp;D Partnership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80720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or co-branded cohorts for your employees. Leverage existing training budgets. Fully measurable ROI.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2240280"/>
            <a:ext cx="2651760" cy="1828800"/>
          </a:xfrm>
          <a:prstGeom prst="rect">
            <a:avLst/>
          </a:prstGeom>
          <a:solidFill>
            <a:srgbClr val="2D2B5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240280"/>
            <a:ext cx="265176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3865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Enrollment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80720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 teams of 5–50 in our next open cohort. Peer circles, live sessions, and real hands-on building.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240280"/>
            <a:ext cx="2651760" cy="1828800"/>
          </a:xfrm>
          <a:prstGeom prst="rect">
            <a:avLst/>
          </a:prstGeom>
          <a:solidFill>
            <a:srgbClr val="2D2B5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240280"/>
            <a:ext cx="265176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3865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Individual Access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80720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self-enrol using employer learning allowances. Certificates, community access, real deliverables.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vibebuilding.academy  ·  demadera@marcovanhout.com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49194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VibeBuildingAcademy — Build What You Never Could Before</dc:title>
  <dc:subject>PptxGenJS Presentation</dc:subject>
  <dc:creator>VibeBuildingAcademy</dc:creator>
  <cp:lastModifiedBy>VibeBuildingAcademy</cp:lastModifiedBy>
  <cp:revision>1</cp:revision>
  <dcterms:created xsi:type="dcterms:W3CDTF">2026-02-21T21:50:50Z</dcterms:created>
  <dcterms:modified xsi:type="dcterms:W3CDTF">2026-02-21T21:50:50Z</dcterms:modified>
</cp:coreProperties>
</file>